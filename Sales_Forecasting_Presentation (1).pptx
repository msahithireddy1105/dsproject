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689520" y="1418628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Sales Forecasting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748915" y="238420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FC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7DFCE"/>
                </a:solidFill>
                <a:latin typeface="Calibri"/>
                <a:ea typeface="Calibri"/>
                <a:cs typeface="Calibri"/>
                <a:sym typeface="Calibri"/>
              </a:rPr>
              <a:t>A Retail Sales Forecasting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86115" y="365931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100"/>
              <a:buFont typeface="Courier New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492670" y="5745323"/>
            <a:ext cx="347400" cy="548700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968158" y="5425283"/>
            <a:ext cx="347400" cy="868800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443646" y="5608163"/>
            <a:ext cx="347400" cy="685800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0919134" y="5105243"/>
            <a:ext cx="347400" cy="1188600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1394622" y="4739483"/>
            <a:ext cx="347400" cy="1554600"/>
          </a:xfrm>
          <a:prstGeom prst="rect">
            <a:avLst/>
          </a:prstGeom>
          <a:solidFill>
            <a:srgbClr val="B55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820350" y="4531546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180225" y="4740149"/>
            <a:ext cx="50778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FCE"/>
              </a:buClr>
              <a:buSzPts val="1300"/>
              <a:buFont typeface="Calibri"/>
              <a:buNone/>
            </a:pPr>
            <a:r>
              <a:rPr lang="en-US" sz="1800">
                <a:solidFill>
                  <a:srgbClr val="E7DF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2420030424 M.Sahathi</a:t>
            </a:r>
            <a:endParaRPr sz="1800">
              <a:solidFill>
                <a:srgbClr val="E7DF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E7DF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2420030514 Y.Anuhya</a:t>
            </a:r>
            <a:endParaRPr sz="1800">
              <a:solidFill>
                <a:srgbClr val="E7DFC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DFCE"/>
              </a:buClr>
              <a:buSzPts val="1300"/>
              <a:buFont typeface="Calibri"/>
              <a:buNone/>
            </a:pPr>
            <a:r>
              <a:rPr lang="en-US" sz="1800">
                <a:solidFill>
                  <a:srgbClr val="E7DFC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2420030680 KANDULA NIKHIL REDDY</a:t>
            </a:r>
            <a:r>
              <a:rPr lang="en-US" sz="1800">
                <a:solidFill>
                  <a:srgbClr val="E7DFC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E7DFC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1186125" y="2774463"/>
            <a:ext cx="9066000" cy="14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1450" rtl="0" algn="ctr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Esteemed Guidance of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Prathusha ,Department of CSE</a:t>
            </a: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A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00"/>
              <a:buFont typeface="Courier New"/>
              <a:buNone/>
            </a:pPr>
            <a:r>
              <a:rPr i="0" lang="en-US" sz="2000" u="none" cap="none" strike="noStrike">
                <a:solidFill>
                  <a:srgbClr val="B553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— PROBLEM STATEMENT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Retailers plan blind without a forecast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874520"/>
            <a:ext cx="3520440" cy="329184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22960" y="21031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C89B3C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Inventory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22960" y="310896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Overstock ties up cash; understock loses sales — both stem from guessing next month's demand.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43400" y="1874520"/>
            <a:ext cx="3520440" cy="329184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617720" y="21031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C89B3C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7720" y="2606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Staffing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617720" y="310896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Store and warehouse schedules are set weeks ahead, but demand swings with seasons and promotions.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138160" y="1874520"/>
            <a:ext cx="3520440" cy="329184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412480" y="21031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C89B3C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Promotions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412480" y="310896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Marketing teams run sales without knowing how much lift a promotion will actually generate.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54406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A retail store needs a way to forecast monthly sales using historical data, seasonal trends, and promotions — turning guesswork into a repeatable, data-driven process.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A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00"/>
              <a:buFont typeface="Courier New"/>
              <a:buNone/>
            </a:pPr>
            <a:r>
              <a:rPr i="0" lang="en-US" sz="1700" u="none" cap="none" strike="noStrike">
                <a:solidFill>
                  <a:srgbClr val="B553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 — OBJECTIVES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What the system sets out to 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1920240"/>
            <a:ext cx="347472" cy="347472"/>
          </a:xfrm>
          <a:prstGeom prst="ellipse">
            <a:avLst/>
          </a:prstGeom>
          <a:solidFill>
            <a:srgbClr val="B55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48640" y="19202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051560" y="187452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Ingest historical sales data (date, category, units, revenue, promotion flag) from CSV uploads.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217920" y="1920240"/>
            <a:ext cx="347472" cy="347472"/>
          </a:xfrm>
          <a:prstGeom prst="ellipse">
            <a:avLst/>
          </a:prstGeom>
          <a:solidFill>
            <a:srgbClr val="B55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217920" y="19202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720840" y="187452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Identify seasonal demand patterns across months and product categories.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3246120"/>
            <a:ext cx="347472" cy="347472"/>
          </a:xfrm>
          <a:prstGeom prst="ellipse">
            <a:avLst/>
          </a:prstGeom>
          <a:solidFill>
            <a:srgbClr val="B55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48640" y="32461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051560" y="320040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Quantify the uplift promotions create, so future campaigns can be planned with confidence.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217920" y="3246120"/>
            <a:ext cx="347472" cy="347472"/>
          </a:xfrm>
          <a:prstGeom prst="ellipse">
            <a:avLst/>
          </a:prstGeom>
          <a:solidFill>
            <a:srgbClr val="5C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217920" y="32461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720840" y="320040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Generate a month-by-month revenue forecast with a confidence range, not a single guess.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4572000"/>
            <a:ext cx="347472" cy="347472"/>
          </a:xfrm>
          <a:prstGeom prst="ellipse">
            <a:avLst/>
          </a:prstGeom>
          <a:solidFill>
            <a:srgbClr val="5C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48640" y="4572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51560" y="452628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Let planners simulate scenarios — new promotions, marketing spend changes — before committing budget.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217920" y="4572000"/>
            <a:ext cx="347472" cy="347472"/>
          </a:xfrm>
          <a:prstGeom prst="ellipse">
            <a:avLst/>
          </a:prstGeom>
          <a:solidFill>
            <a:srgbClr val="5C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217920" y="4572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720840" y="452628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Export forecasts as shareable reports for inventory, staffing, and marketing teams.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00"/>
              <a:buFont typeface="Courier New"/>
              <a:buNone/>
            </a:pPr>
            <a:r>
              <a:rPr i="0" lang="en-US" sz="1900" u="none" cap="none" strike="noStrike">
                <a:solidFill>
                  <a:srgbClr val="B553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 — METHODOLOGY</a:t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From raw data to a forecast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48640" y="1965960"/>
            <a:ext cx="2423160" cy="320040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49808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C89B3C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49808" y="2606040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Collect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49808" y="3108960"/>
            <a:ext cx="202082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Historical monthly sales by category: units, revenue, and a promotion flag.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971800" y="3246120"/>
            <a:ext cx="246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5532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264408" y="1965960"/>
            <a:ext cx="2423160" cy="3200400"/>
          </a:xfrm>
          <a:prstGeom prst="rect">
            <a:avLst/>
          </a:prstGeom>
          <a:solidFill>
            <a:srgbClr val="FBF7EE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465576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C89B3C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465576" y="2606040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Decompose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465576" y="3108960"/>
            <a:ext cx="202082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Separate the series into trend (linear regression) and seasonality (monthly index vs. yearly average).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687568" y="3246120"/>
            <a:ext cx="246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5532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980176" y="1965960"/>
            <a:ext cx="2423160" cy="320040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181344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C89B3C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181344" y="2606040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Adjust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181344" y="3108960"/>
            <a:ext cx="202082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Apply a promotion uplift factor to months with planned or historical promotions.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403336" y="3246120"/>
            <a:ext cx="246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5532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8695944" y="1965960"/>
            <a:ext cx="2423160" cy="3200400"/>
          </a:xfrm>
          <a:prstGeom prst="rect">
            <a:avLst/>
          </a:prstGeom>
          <a:solidFill>
            <a:srgbClr val="FBF7EE"/>
          </a:solidFill>
          <a:ln>
            <a:noFill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897112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C89B3C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897112" y="2606040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897112" y="3108960"/>
            <a:ext cx="202082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Combine trend × seasonal index × promotion factor to forecast 3–12 months ahead, with a confidence band.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8640" y="548640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B5532C"/>
                </a:solidFill>
                <a:latin typeface="Courier New"/>
                <a:ea typeface="Courier New"/>
                <a:cs typeface="Courier New"/>
                <a:sym typeface="Courier New"/>
              </a:rPr>
              <a:t>Model: Seasonal Decomposition + Linear Trend, with a promotion multiplier applied per month.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00"/>
              <a:buFont typeface="Courier New"/>
              <a:buNone/>
            </a:pPr>
            <a:r>
              <a:rPr i="0" lang="en-US" sz="1800" u="none" cap="none" strike="noStrike">
                <a:solidFill>
                  <a:srgbClr val="B553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 — SYSTEM DESIGN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Architecture &amp; tech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965960"/>
            <a:ext cx="2377440" cy="1005840"/>
          </a:xfrm>
          <a:prstGeom prst="roundRect">
            <a:avLst>
              <a:gd fmla="val 7273" name="adj"/>
            </a:avLst>
          </a:prstGeom>
          <a:solidFill>
            <a:srgbClr val="FFFD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48640" y="196596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CSV Upload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926080" y="224028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337560" y="1965960"/>
            <a:ext cx="2377440" cy="1005840"/>
          </a:xfrm>
          <a:prstGeom prst="roundRect">
            <a:avLst>
              <a:gd fmla="val 7273" name="adj"/>
            </a:avLst>
          </a:prstGeom>
          <a:solidFill>
            <a:srgbClr val="FFFD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337560" y="196596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Data Aggregation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715000" y="224028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126480" y="1965960"/>
            <a:ext cx="2377440" cy="1005840"/>
          </a:xfrm>
          <a:prstGeom prst="roundRect">
            <a:avLst>
              <a:gd fmla="val 7273" name="adj"/>
            </a:avLst>
          </a:prstGeom>
          <a:solidFill>
            <a:srgbClr val="B5532C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126480" y="196596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 Engine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503920" y="224028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915400" y="1965960"/>
            <a:ext cx="2377440" cy="1005840"/>
          </a:xfrm>
          <a:prstGeom prst="roundRect">
            <a:avLst>
              <a:gd fmla="val 7273" name="adj"/>
            </a:avLst>
          </a:prstGeom>
          <a:solidFill>
            <a:srgbClr val="FFFDF8"/>
          </a:solidFill>
          <a:ln>
            <a:noFill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8915400" y="196596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Dashboard &amp; Charts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" y="34290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B5532C"/>
                </a:solidFill>
                <a:latin typeface="Courier New"/>
                <a:ea typeface="Courier New"/>
                <a:cs typeface="Courier New"/>
                <a:sym typeface="Courier New"/>
              </a:rPr>
              <a:t>Frontend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429000" y="342900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HTML5, CSS3, JavaScript (ES6)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7"/>
          <p:cNvCxnSpPr/>
          <p:nvPr/>
        </p:nvCxnSpPr>
        <p:spPr>
          <a:xfrm>
            <a:off x="548640" y="3813048"/>
            <a:ext cx="10652760" cy="0"/>
          </a:xfrm>
          <a:prstGeom prst="straightConnector1">
            <a:avLst/>
          </a:prstGeom>
          <a:noFill/>
          <a:ln cap="flat" cmpd="sng" w="12700">
            <a:solidFill>
              <a:srgbClr val="D8CF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7"/>
          <p:cNvSpPr/>
          <p:nvPr/>
        </p:nvSpPr>
        <p:spPr>
          <a:xfrm>
            <a:off x="548640" y="38862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B5532C"/>
                </a:solidFill>
                <a:latin typeface="Courier New"/>
                <a:ea typeface="Courier New"/>
                <a:cs typeface="Courier New"/>
                <a:sym typeface="Courier New"/>
              </a:rPr>
              <a:t>Visualization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429000" y="388620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Chart.js — bar, line, and doughnut charts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7"/>
          <p:cNvCxnSpPr/>
          <p:nvPr/>
        </p:nvCxnSpPr>
        <p:spPr>
          <a:xfrm>
            <a:off x="548640" y="4270248"/>
            <a:ext cx="10652760" cy="0"/>
          </a:xfrm>
          <a:prstGeom prst="straightConnector1">
            <a:avLst/>
          </a:prstGeom>
          <a:noFill/>
          <a:ln cap="flat" cmpd="sng" w="12700">
            <a:solidFill>
              <a:srgbClr val="D8CF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7"/>
          <p:cNvSpPr/>
          <p:nvPr/>
        </p:nvSpPr>
        <p:spPr>
          <a:xfrm>
            <a:off x="548640" y="43434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B5532C"/>
                </a:solidFill>
                <a:latin typeface="Courier New"/>
                <a:ea typeface="Courier New"/>
                <a:cs typeface="Courier New"/>
                <a:sym typeface="Courier New"/>
              </a:rPr>
              <a:t>Forecasting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429000" y="434340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Client-side time-series model (trend + seasonal index)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7"/>
          <p:cNvCxnSpPr/>
          <p:nvPr/>
        </p:nvCxnSpPr>
        <p:spPr>
          <a:xfrm>
            <a:off x="548640" y="4727448"/>
            <a:ext cx="10652760" cy="0"/>
          </a:xfrm>
          <a:prstGeom prst="straightConnector1">
            <a:avLst/>
          </a:prstGeom>
          <a:noFill/>
          <a:ln cap="flat" cmpd="sng" w="12700">
            <a:solidFill>
              <a:srgbClr val="D8CF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/>
          <p:nvPr/>
        </p:nvSpPr>
        <p:spPr>
          <a:xfrm>
            <a:off x="548640" y="48006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B5532C"/>
                </a:solidFill>
                <a:latin typeface="Courier New"/>
                <a:ea typeface="Courier New"/>
                <a:cs typeface="Courier New"/>
                <a:sym typeface="Courier New"/>
              </a:rPr>
              <a:t>Optional 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429000" y="480060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Python (Flask/FastAPI) for ARIMA/Prophet-based forecasting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548640" y="5184648"/>
            <a:ext cx="10652760" cy="0"/>
          </a:xfrm>
          <a:prstGeom prst="straightConnector1">
            <a:avLst/>
          </a:prstGeom>
          <a:noFill/>
          <a:ln cap="flat" cmpd="sng" w="12700">
            <a:solidFill>
              <a:srgbClr val="D8CF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7"/>
          <p:cNvSpPr/>
          <p:nvPr/>
        </p:nvSpPr>
        <p:spPr>
          <a:xfrm>
            <a:off x="548640" y="52578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B5532C"/>
                </a:solidFill>
                <a:latin typeface="Courier New"/>
                <a:ea typeface="Courier New"/>
                <a:cs typeface="Courier New"/>
                <a:sym typeface="Courier New"/>
              </a:rPr>
              <a:t>Data format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429000" y="525780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CSV in, CSV/PDF reports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7"/>
          <p:cNvCxnSpPr/>
          <p:nvPr/>
        </p:nvCxnSpPr>
        <p:spPr>
          <a:xfrm>
            <a:off x="548640" y="5641848"/>
            <a:ext cx="10652760" cy="0"/>
          </a:xfrm>
          <a:prstGeom prst="straightConnector1">
            <a:avLst/>
          </a:prstGeom>
          <a:noFill/>
          <a:ln cap="flat" cmpd="sng" w="12700">
            <a:solidFill>
              <a:srgbClr val="D8CF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00"/>
              <a:buFont typeface="Courier New"/>
              <a:buNone/>
            </a:pPr>
            <a:r>
              <a:rPr i="0" lang="en-US" sz="1600" u="none" cap="none" strike="noStrike">
                <a:solidFill>
                  <a:srgbClr val="B553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 — KEY FEATURES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Inside the application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1874520"/>
            <a:ext cx="3429000" cy="150876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777240" y="20391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Dashboard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77240" y="24231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Revenue, growth, and top-category KPIs at a glance, with 24-month history and seasonal index charts.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160520" y="1874520"/>
            <a:ext cx="3429000" cy="150876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389120" y="20391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Data Upload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389120" y="24231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Drag-and-drop CSV ingestion of historical sales — date, category, units, revenue, promotions.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772400" y="1874520"/>
            <a:ext cx="3429000" cy="150876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001000" y="20391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Forecast Engine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001000" y="24231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Projects 3, 6, or 12 months ahead with adjustable promotion-boost assumptions and confidence bands.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3547872"/>
            <a:ext cx="3429000" cy="150876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777240" y="3712464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Scenario Simulator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77240" y="4096512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Test 'what-if' promotions or marketing spend changes against the baseline forecast instantly.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160520" y="3547872"/>
            <a:ext cx="3429000" cy="150876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389120" y="3712464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Reports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389120" y="4096512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Export forecast tables as CSV, or print a polished summary as PDF.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772400" y="3547872"/>
            <a:ext cx="3429000" cy="150876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001000" y="3712464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Clean Dashboard UI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8001000" y="4096512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A7163"/>
                </a:solidFill>
                <a:latin typeface="Calibri"/>
                <a:ea typeface="Calibri"/>
                <a:cs typeface="Calibri"/>
                <a:sym typeface="Calibri"/>
              </a:rPr>
              <a:t>Card-based layout with a dedicated nav for Dashboard, Upload, Forecast, Scenarios, and Reports.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1100"/>
              <a:buFont typeface="Courier New"/>
              <a:buNone/>
            </a:pPr>
            <a:r>
              <a:rPr i="0" lang="en-US" sz="1700" u="none" cap="none" strike="noStrike">
                <a:solidFill>
                  <a:srgbClr val="B553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 — RESULTS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B2620"/>
                </a:solidFill>
                <a:latin typeface="Cambria"/>
                <a:ea typeface="Cambria"/>
                <a:cs typeface="Cambria"/>
                <a:sym typeface="Cambria"/>
              </a:rPr>
              <a:t>What the forecast predicts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48640" y="1874520"/>
            <a:ext cx="2514600" cy="137160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731520" y="201168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5532C"/>
                </a:solidFill>
                <a:latin typeface="Cambria"/>
                <a:ea typeface="Cambria"/>
                <a:cs typeface="Cambria"/>
                <a:sym typeface="Cambria"/>
              </a:rPr>
              <a:t>$987,420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731520" y="26517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24-month historical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46120" y="1874520"/>
            <a:ext cx="2514600" cy="137160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3429000" y="201168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5532C"/>
                </a:solidFill>
                <a:latin typeface="Cambria"/>
                <a:ea typeface="Cambria"/>
                <a:cs typeface="Cambria"/>
                <a:sym typeface="Cambria"/>
              </a:rPr>
              <a:t>+12.4%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429000" y="26517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Year-over-year growth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943600" y="1874520"/>
            <a:ext cx="2514600" cy="137160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6126480" y="201168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5532C"/>
                </a:solidFill>
                <a:latin typeface="Cambria"/>
                <a:ea typeface="Cambria"/>
                <a:cs typeface="Cambria"/>
                <a:sym typeface="Cambria"/>
              </a:rPr>
              <a:t>±8%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126480" y="26517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Forecast confidence band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641080" y="1874520"/>
            <a:ext cx="2514600" cy="137160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889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8823960" y="201168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2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5532C"/>
                </a:solidFill>
                <a:latin typeface="Cambria"/>
                <a:ea typeface="Cambria"/>
                <a:cs typeface="Cambria"/>
                <a:sym typeface="Cambria"/>
              </a:rPr>
              <a:t>$245K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823960" y="26517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Projected next 6 months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520440"/>
            <a:ext cx="640080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7178040" y="3520440"/>
            <a:ext cx="41605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6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620"/>
                </a:solidFill>
                <a:latin typeface="Calibri"/>
                <a:ea typeface="Calibri"/>
                <a:cs typeface="Calibri"/>
                <a:sym typeface="Calibri"/>
              </a:rPr>
              <a:t>Promotional months (Nov–Dec) show the largest seasonal index and the highest forecast uplift — guiding where to plan inventory and staffing first.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100"/>
              <a:buFont typeface="Courier New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Dashboard 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hot_dashboard_crop.png"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1106424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100"/>
              <a:buFont typeface="Courier New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Forecast 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hot_forecast_crop.png"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1106424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16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A7163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548650" y="411470"/>
            <a:ext cx="7315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100"/>
              <a:buFont typeface="Courier New"/>
              <a:buNone/>
            </a:pPr>
            <a:r>
              <a:rPr i="0" lang="en-US" sz="1900" u="none" cap="none" strike="noStrike">
                <a:solidFill>
                  <a:srgbClr val="C89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 — CONCLUSION</a:t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128016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Forecasting turns history into a plan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48640" y="2286000"/>
            <a:ext cx="84124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DFC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7DFCE"/>
                </a:solidFill>
                <a:latin typeface="Calibri"/>
                <a:ea typeface="Calibri"/>
                <a:cs typeface="Calibri"/>
                <a:sym typeface="Calibri"/>
              </a:rPr>
              <a:t>By combining historical trends, seasonal patterns, and promotion data, the system gives a retail store a defensible monthly forecast — not a guess.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E7DFC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7DFCE"/>
                </a:solidFill>
                <a:latin typeface="Calibri"/>
                <a:ea typeface="Calibri"/>
                <a:cs typeface="Calibri"/>
                <a:sym typeface="Calibri"/>
              </a:rPr>
              <a:t>Next steps: connect to live POS data, add ARIMA/Prophet for longer horizons, and extend scenario simulation to multi-store comparisons.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9784080" y="5532120"/>
            <a:ext cx="347472" cy="457200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0259568" y="5257800"/>
            <a:ext cx="347472" cy="731520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0735056" y="5394960"/>
            <a:ext cx="347472" cy="594360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11210544" y="4983480"/>
            <a:ext cx="347472" cy="1005840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1686032" y="4663440"/>
            <a:ext cx="347472" cy="1325880"/>
          </a:xfrm>
          <a:prstGeom prst="rect">
            <a:avLst/>
          </a:prstGeom>
          <a:solidFill>
            <a:srgbClr val="B55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548640" y="5989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00"/>
              <a:buFont typeface="Courier New"/>
              <a:buNone/>
            </a:pPr>
            <a:r>
              <a:rPr i="0" lang="en-US" sz="2300" u="none" cap="none" strike="noStrike">
                <a:solidFill>
                  <a:srgbClr val="C89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